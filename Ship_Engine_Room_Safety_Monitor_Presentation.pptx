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914400"/>
            <a:ext cx="4389120" cy="347472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4B5FD"/>
                </a:solidFill>
                <a:latin typeface="Consolas"/>
              </a:defRPr>
            </a:pPr>
            <a:r>
              <a:t>INTERNSHIP PROJECT DEFENSE //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Segoe UI"/>
              </a:defRPr>
            </a:pPr>
            <a:r>
              <a:t>Smart Ship Engine Room</a:t>
            </a:r>
          </a:p>
          <a:p>
            <a:pPr>
              <a:defRPr sz="3400" b="1">
                <a:solidFill>
                  <a:srgbClr val="34D399"/>
                </a:solidFill>
                <a:latin typeface="Segoe UI"/>
              </a:defRPr>
            </a:pPr>
            <a:r>
              <a:t>Safety &amp; Vitals Monitoring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An automated hardware sentinel that constantly checks temperature, fuel gas leaks, and machinery distance to stop ship engine fires before they happen.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886200"/>
            <a:ext cx="2423160" cy="15087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069080"/>
            <a:ext cx="205740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4D399"/>
                </a:solidFill>
                <a:latin typeface="Consolas"/>
              </a:defRPr>
            </a:pPr>
            <a:r>
              <a:t>THE BRAIN</a:t>
            </a:r>
          </a:p>
          <a:p>
            <a:pPr>
              <a:spcBef>
                <a:spcPts val="400"/>
              </a:spcBef>
              <a:defRPr sz="1250" b="1">
                <a:solidFill>
                  <a:srgbClr val="FFFFFF"/>
                </a:solidFill>
                <a:latin typeface="Segoe UI"/>
              </a:defRPr>
            </a:pPr>
            <a:r>
              <a:t>STM32 Black Pill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A fast 32-bit chip running custom C code that never freezes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3886200"/>
            <a:ext cx="2423160" cy="15087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4069080"/>
            <a:ext cx="205740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C4B5FD"/>
                </a:solidFill>
                <a:latin typeface="Consolas"/>
              </a:defRPr>
            </a:pPr>
            <a:r>
              <a:t>THE SENSES</a:t>
            </a:r>
          </a:p>
          <a:p>
            <a:pPr>
              <a:spcBef>
                <a:spcPts val="400"/>
              </a:spcBef>
              <a:defRPr sz="1250" b="1">
                <a:solidFill>
                  <a:srgbClr val="FFFFFF"/>
                </a:solidFill>
                <a:latin typeface="Segoe UI"/>
              </a:defRPr>
            </a:pPr>
            <a:r>
              <a:t>3 Critical Sensors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Watches heat levels, sniffs gas leaks, and measures distance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86200"/>
            <a:ext cx="2423160" cy="15087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205740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34D399"/>
                </a:solidFill>
                <a:latin typeface="Consolas"/>
              </a:defRPr>
            </a:pPr>
            <a:r>
              <a:t>THE REFLEXES</a:t>
            </a:r>
          </a:p>
          <a:p>
            <a:pPr>
              <a:spcBef>
                <a:spcPts val="400"/>
              </a:spcBef>
              <a:defRPr sz="1250" b="1">
                <a:solidFill>
                  <a:srgbClr val="FFFFFF"/>
                </a:solidFill>
                <a:latin typeface="Segoe UI"/>
              </a:defRPr>
            </a:pPr>
            <a:r>
              <a:t>Instant Alarms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Reacts in milliseconds with lights, buzzer, and OLED alerts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3886200"/>
            <a:ext cx="2423160" cy="15087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4069080"/>
            <a:ext cx="205740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C4B5FD"/>
                </a:solidFill>
                <a:latin typeface="Consolas"/>
              </a:defRPr>
            </a:pPr>
            <a:r>
              <a:t>THE WINDOW</a:t>
            </a:r>
          </a:p>
          <a:p>
            <a:pPr>
              <a:spcBef>
                <a:spcPts val="400"/>
              </a:spcBef>
              <a:defRPr sz="1250" b="1">
                <a:solidFill>
                  <a:srgbClr val="FFFFFF"/>
                </a:solidFill>
                <a:latin typeface="Segoe UI"/>
              </a:defRPr>
            </a:pPr>
            <a:r>
              <a:t>Live PC Dashboard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Streams live rolling graphs to a laptop screen and logs to Excel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623560"/>
            <a:ext cx="10332720" cy="475488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CBD5E1"/>
                </a:solidFill>
                <a:latin typeface="Consolas"/>
              </a:defRPr>
            </a:pPr>
            <a:r>
              <a:t>DEVELOPER: Ujjval  |  REPO: github.com/UjjvxL/Ship-Engine-Room-Safety-Monitor-  |  INTERNSHIP PROJECT 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3840480" cy="3200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C4B5FD"/>
                </a:solidFill>
                <a:latin typeface="Consolas"/>
              </a:defRPr>
            </a:pPr>
            <a:r>
              <a:t>PROJECT WALKTHROUGH // THE REAL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365760"/>
            <a:ext cx="1828800" cy="3200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4D399"/>
                </a:solidFill>
                <a:latin typeface="Consolas"/>
              </a:defRPr>
            </a:pPr>
            <a:r>
              <a:t>SLIDE 02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Why Do Ships Urgently Need This?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89888"/>
            <a:ext cx="10728655" cy="18288"/>
          </a:xfrm>
          <a:prstGeom prst="rect">
            <a:avLst/>
          </a:prstGeom>
          <a:solidFill>
            <a:srgbClr val="2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01 / A HARSH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28712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Too Dangerous for People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▹ Ship engine rooms are boiling hot, deafeningly loud, and cramped.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▹ Humans cannot stand inside 24 hours a day watching every pipe.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▹ Crew members only inspect once every few hours—leaving long blind spots.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▹ International maritime safety rules (SOLAS) require automated warnings.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81051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02 / DISASTER HAPPENS FAST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240280"/>
            <a:ext cx="28712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30 Seconds Can Sink A Ship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▹ A tiny diesel spray hitting a hot pipe can cause a fire in seconds.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▹ Overheating bearings can seize and leave a ship stranded in rough storms.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▹ Toxic fuel fumes can knock out crew members without warning.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▹ Waiting for smoke to drift up to the bridge is already too late.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1051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03 / OUR SIMPLE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2240280"/>
            <a:ext cx="28712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A Tireless Digital Guard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▹ Build a small, affordable device that sits right on the engine block.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▹ Continuously watches heat, gas fumes, and distance 24/7.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▹ Sounds immediate loud sirens on the spot without relying on computers.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▹ Streams live numbers to the bridge laptop so officers stay informed.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3840480" cy="3200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C4B5FD"/>
                </a:solidFill>
                <a:latin typeface="Consolas"/>
              </a:defRPr>
            </a:pPr>
            <a:r>
              <a:t>PROJECT WALKTHROUGH // WHAT IT MONITORS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365760"/>
            <a:ext cx="1828800" cy="3200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4D399"/>
                </a:solidFill>
                <a:latin typeface="Consolas"/>
              </a:defRPr>
            </a:pPr>
            <a:r>
              <a:t>SLIDE 03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3 Critical Dangers We Watch For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89888"/>
            <a:ext cx="10728655" cy="18288"/>
          </a:xfrm>
          <a:prstGeom prst="rect">
            <a:avLst/>
          </a:prstGeom>
          <a:solidFill>
            <a:srgbClr val="2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6217920" cy="132588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581558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DANGER 1: FUEL GAS &amp; SMOKE LEAKS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5760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Consolas"/>
              </a:defRPr>
            </a:pPr>
            <a:r>
              <a:t>SENSOR: MQ GAS DETECTOR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Sniffs out volatile diesel fumes, exhaust leaks, or burning wire insulation before open flames erupt. Triggers an alert instantly to stop bilge explosions.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6217920" cy="132588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319272"/>
            <a:ext cx="581558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DANGER 2: ENGINE OVERHEATING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11880"/>
            <a:ext cx="5760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SENSOR: DS18B20 DIGITAL PROBE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Touches engine metal and coolant loops to read temperatures down to 0.1°C precision. Triggers an alert the moment heat crosses 45.0°C.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6217920" cy="132588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828032"/>
            <a:ext cx="581558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DANGER 3: MACHINERY CLEARANCE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120640"/>
            <a:ext cx="5760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Consolas"/>
              </a:defRPr>
            </a:pPr>
            <a:r>
              <a:t>SENSOR: HC-SR04 SONAR</a:t>
            </a:r>
          </a:p>
          <a:p>
            <a:pPr>
              <a:spcBef>
                <a:spcPts val="300"/>
              </a:spcBef>
              <a:defRPr sz="1050">
                <a:solidFill>
                  <a:srgbClr val="CBD5E1"/>
                </a:solidFill>
                <a:latin typeface="Segoe UI"/>
              </a:defRPr>
            </a:pPr>
            <a:r>
              <a:t>Shoots sound waves like a bat to verify machinery isn't vibrating loose, and warns if someone gets dangerously close to spinning shafts.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645920"/>
            <a:ext cx="4144975" cy="4572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8" y="1810512"/>
            <a:ext cx="374263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OUR STRICT SAFETY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286000"/>
            <a:ext cx="3596335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4D399"/>
                </a:solidFill>
                <a:latin typeface="Trebuchet MS"/>
              </a:defRPr>
            </a:pPr>
            <a:r>
              <a:t>01. Works Standalone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The box works completely on its own—even if the laptop disconnects or crashes.</a:t>
            </a:r>
          </a:p>
          <a:p>
            <a:pPr>
              <a:spcBef>
                <a:spcPts val="1000"/>
              </a:spcBef>
              <a:defRPr sz="1200" b="1">
                <a:solidFill>
                  <a:srgbClr val="34D399"/>
                </a:solidFill>
                <a:latin typeface="Trebuchet MS"/>
              </a:defRPr>
            </a:pPr>
            <a:r>
              <a:t>02. Never Freezes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Sensor reads never make the code pause or sleep; safety checks happen every microsecond.</a:t>
            </a:r>
          </a:p>
          <a:p>
            <a:pPr>
              <a:spcBef>
                <a:spcPts val="1000"/>
              </a:spcBef>
              <a:defRPr sz="1200" b="1">
                <a:solidFill>
                  <a:srgbClr val="34D399"/>
                </a:solidFill>
                <a:latin typeface="Trebuchet MS"/>
              </a:defRPr>
            </a:pPr>
            <a:r>
              <a:t>03. Impossible to Miss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Bright colored lights + loud beeping horn + glowing OLED screen cut through loud engine noise.</a:t>
            </a:r>
          </a:p>
          <a:p>
            <a:pPr>
              <a:spcBef>
                <a:spcPts val="1000"/>
              </a:spcBef>
              <a:defRPr sz="1200" b="1">
                <a:solidFill>
                  <a:srgbClr val="34D399"/>
                </a:solidFill>
                <a:latin typeface="Trebuchet MS"/>
              </a:defRPr>
            </a:pPr>
            <a:r>
              <a:t>04. Simple PC Link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Sends easy-to-read text messages to laptops and ship bridge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3840480" cy="3200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C4B5FD"/>
                </a:solidFill>
                <a:latin typeface="Consolas"/>
              </a:defRPr>
            </a:pPr>
            <a:r>
              <a:t>PROJECT WALKTHROUGH // HARDWARE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365760"/>
            <a:ext cx="1828800" cy="3200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4D399"/>
                </a:solidFill>
                <a:latin typeface="Consolas"/>
              </a:defRPr>
            </a:pPr>
            <a:r>
              <a:t>SLIDE 04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Hardware Pieces (How It Looks)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89888"/>
            <a:ext cx="10728655" cy="18288"/>
          </a:xfrm>
          <a:prstGeom prst="rect">
            <a:avLst/>
          </a:prstGeom>
          <a:solidFill>
            <a:srgbClr val="2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47183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OUR ASSEMBLED BENCH PROTOTYPE</a:t>
            </a:r>
          </a:p>
        </p:txBody>
      </p:sp>
      <p:pic>
        <p:nvPicPr>
          <p:cNvPr id="10" name="Picture 9" descr="project pic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94560"/>
            <a:ext cx="4663440" cy="3794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26480" y="1645920"/>
            <a:ext cx="5333695" cy="4572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810512"/>
            <a:ext cx="493135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SIMPLE PARTS BREAKDOWN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478505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Trebuchet MS"/>
              </a:defRPr>
            </a:pPr>
            <a:r>
              <a:t>THE BRAIN CHIP  •  STM32 Black Pill</a:t>
            </a: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A fast 32-bit ARM mini-computer that reads all sensors and runs our C code.</a:t>
            </a:r>
          </a:p>
          <a:p>
            <a:pPr>
              <a:spcBef>
                <a:spcPts val="800"/>
              </a:spcBef>
              <a:defRPr sz="1100" b="1">
                <a:solidFill>
                  <a:srgbClr val="06B6D4"/>
                </a:solidFill>
                <a:latin typeface="Trebuchet MS"/>
              </a:defRPr>
            </a:pPr>
            <a:r>
              <a:t>DISTANCE SENSOR  •  Ultrasonic HC-SR04</a:t>
            </a: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Shoots sound pulses to measure distance from 2cm up to 4 meters away.</a:t>
            </a:r>
          </a:p>
          <a:p>
            <a:pPr>
              <a:spcBef>
                <a:spcPts val="800"/>
              </a:spcBef>
              <a:defRPr sz="1100" b="1">
                <a:solidFill>
                  <a:srgbClr val="06B6D4"/>
                </a:solidFill>
                <a:latin typeface="Trebuchet MS"/>
              </a:defRPr>
            </a:pPr>
            <a:r>
              <a:t>TEMPERATURE SENSOR  •  DS18B20 Digital Probe</a:t>
            </a: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Stainless steel probe placed on hot engine metal. Accurate to 0.1°C.</a:t>
            </a:r>
          </a:p>
          <a:p>
            <a:pPr>
              <a:spcBef>
                <a:spcPts val="800"/>
              </a:spcBef>
              <a:defRPr sz="1100" b="1">
                <a:solidFill>
                  <a:srgbClr val="06B6D4"/>
                </a:solidFill>
                <a:latin typeface="Trebuchet MS"/>
              </a:defRPr>
            </a:pPr>
            <a:r>
              <a:t>GAS SENSOR  •  MQ Gas Comparator</a:t>
            </a: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Sniffs out volatile diesel fumes or wire smoke in the surrounding air.</a:t>
            </a:r>
          </a:p>
          <a:p>
            <a:pPr>
              <a:spcBef>
                <a:spcPts val="800"/>
              </a:spcBef>
              <a:defRPr sz="1100" b="1">
                <a:solidFill>
                  <a:srgbClr val="06B6D4"/>
                </a:solidFill>
                <a:latin typeface="Trebuchet MS"/>
              </a:defRPr>
            </a:pPr>
            <a:r>
              <a:t>MINI SCREEN  •  SSD1306 OLED Display</a:t>
            </a: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A bright mini-screen showing distance, temp, and mode right on the box.</a:t>
            </a:r>
          </a:p>
          <a:p>
            <a:pPr>
              <a:spcBef>
                <a:spcPts val="800"/>
              </a:spcBef>
              <a:defRPr sz="1100" b="1">
                <a:solidFill>
                  <a:srgbClr val="06B6D4"/>
                </a:solidFill>
                <a:latin typeface="Trebuchet MS"/>
              </a:defRPr>
            </a:pPr>
            <a:r>
              <a:t>LIGHTS &amp; SIREN  •  3 LEDs + Piezo Buzzer</a:t>
            </a:r>
          </a:p>
          <a:p>
            <a:pPr>
              <a:spcBef>
                <a:spcPts val="1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Green (Safe), Yellow (Hazard), Red (Emergency), plus loud beeping horn.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3840480" cy="3200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C4B5FD"/>
                </a:solidFill>
                <a:latin typeface="Consolas"/>
              </a:defRPr>
            </a:pPr>
            <a:r>
              <a:t>PROJECT WALKTHROUGH // HARDWARE WIRING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365760"/>
            <a:ext cx="1828800" cy="3200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4D399"/>
                </a:solidFill>
                <a:latin typeface="Consolas"/>
              </a:defRPr>
            </a:pPr>
            <a:r>
              <a:t>SLIDE 05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Clean Wiring &amp; Connections (The Blueprint)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89888"/>
            <a:ext cx="10728655" cy="18288"/>
          </a:xfrm>
          <a:prstGeom prst="rect">
            <a:avLst/>
          </a:prstGeom>
          <a:solidFill>
            <a:srgbClr val="2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47183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STM32 CHIP WIRING MAP</a:t>
            </a:r>
          </a:p>
        </p:txBody>
      </p:sp>
      <p:pic>
        <p:nvPicPr>
          <p:cNvPr id="10" name="Picture 9" descr="IOC Pin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94560"/>
            <a:ext cx="4572000" cy="3794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26480" y="1645920"/>
            <a:ext cx="5333695" cy="4572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810512"/>
            <a:ext cx="493135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DEDICATED SIGNAL HIGHWAYS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478505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Consolas"/>
              </a:defRPr>
            </a:pPr>
            <a:r>
              <a:t>HOW SIGNALS TRAVEL WITHOUT TRAFFIC JAMS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Main Clock Speed: Tuned to 96 MHz (96 million ticks every second).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No Traffic Jams: Every sensor gets its own dedicated pin.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Automatic Counting: Hardware timer counts sound echoes in the background.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Protected Power: Clean 3.3V / 5V rails for reliable sensor readings.</a:t>
            </a:r>
          </a:p>
          <a:p>
            <a:pPr>
              <a:spcBef>
                <a:spcPts val="1000"/>
              </a:spcBef>
              <a:defRPr sz="1100" b="1">
                <a:solidFill>
                  <a:srgbClr val="34D399"/>
                </a:solidFill>
                <a:latin typeface="Consolas"/>
              </a:defRPr>
            </a:pPr>
            <a:r>
              <a:t>PIN CONNECTIONS EXPLAINED SIMPLY</a:t>
            </a:r>
          </a:p>
          <a:p>
            <a:pPr>
              <a:spcBef>
                <a:spcPts val="200"/>
              </a:spcBef>
              <a:defRPr sz="900">
                <a:solidFill>
                  <a:srgbClr val="FFFFFF"/>
                </a:solidFill>
                <a:latin typeface="Consolas"/>
              </a:defRPr>
            </a:pPr>
            <a:r>
              <a:t>PA1       -&gt;  Temp Wire (Talks to DS18B20 temperature sensor)</a:t>
            </a:r>
          </a:p>
          <a:p>
            <a:pPr>
              <a:spcBef>
                <a:spcPts val="200"/>
              </a:spcBef>
              <a:defRPr sz="900">
                <a:solidFill>
                  <a:srgbClr val="FFFFFF"/>
                </a:solidFill>
                <a:latin typeface="Consolas"/>
              </a:defRPr>
            </a:pPr>
            <a:r>
              <a:t>PA5       -&gt;  Gas Wire (Reads gas detector (goes LOW on fume leak))</a:t>
            </a:r>
          </a:p>
          <a:p>
            <a:pPr>
              <a:spcBef>
                <a:spcPts val="200"/>
              </a:spcBef>
              <a:defRPr sz="900">
                <a:solidFill>
                  <a:srgbClr val="FFFFFF"/>
                </a:solidFill>
                <a:latin typeface="Consolas"/>
              </a:defRPr>
            </a:pPr>
            <a:r>
              <a:t>PA9/10    -&gt;  Serial Cable (Sends live numbers to the PC laptop)</a:t>
            </a:r>
          </a:p>
          <a:p>
            <a:pPr>
              <a:spcBef>
                <a:spcPts val="200"/>
              </a:spcBef>
              <a:defRPr sz="900">
                <a:solidFill>
                  <a:srgbClr val="FFFFFF"/>
                </a:solidFill>
                <a:latin typeface="Consolas"/>
              </a:defRPr>
            </a:pPr>
            <a:r>
              <a:t>PB6/7     -&gt;  Screen Wires (Sends drawings to the OLED screen)</a:t>
            </a:r>
          </a:p>
          <a:p>
            <a:pPr>
              <a:spcBef>
                <a:spcPts val="200"/>
              </a:spcBef>
              <a:defRPr sz="900">
                <a:solidFill>
                  <a:srgbClr val="FFFFFF"/>
                </a:solidFill>
                <a:latin typeface="Consolas"/>
              </a:defRPr>
            </a:pPr>
            <a:r>
              <a:t>PB8       -&gt;  Trigger Wire (Tells ultrasonic sensor to shoot sound pulse)</a:t>
            </a:r>
          </a:p>
          <a:p>
            <a:pPr>
              <a:spcBef>
                <a:spcPts val="200"/>
              </a:spcBef>
              <a:defRPr sz="900">
                <a:solidFill>
                  <a:srgbClr val="FFFFFF"/>
                </a:solidFill>
                <a:latin typeface="Consolas"/>
              </a:defRPr>
            </a:pPr>
            <a:r>
              <a:t>TIM2      -&gt;  Echo Timer (Automatically counts how long sound takes to return)</a:t>
            </a:r>
          </a:p>
          <a:p>
            <a:pPr>
              <a:spcBef>
                <a:spcPts val="200"/>
              </a:spcBef>
              <a:defRPr sz="900">
                <a:solidFill>
                  <a:srgbClr val="FFFFFF"/>
                </a:solidFill>
                <a:latin typeface="Consolas"/>
              </a:defRPr>
            </a:pPr>
            <a:r>
              <a:t>PB12–15   -&gt;  Alert Wires (Switches on Green/Yellow/Red lights and Buzzer)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3840480" cy="3200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C4B5FD"/>
                </a:solidFill>
                <a:latin typeface="Consolas"/>
              </a:defRPr>
            </a:pPr>
            <a:r>
              <a:t>PROJECT WALKTHROUGH // FIRMWARE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365760"/>
            <a:ext cx="1828800" cy="3200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4D399"/>
                </a:solidFill>
                <a:latin typeface="Consolas"/>
              </a:defRPr>
            </a:pPr>
            <a:r>
              <a:t>SLIDE 06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Secret Sauce: Code That Never Freezes!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89888"/>
            <a:ext cx="10728655" cy="18288"/>
          </a:xfrm>
          <a:prstGeom prst="rect">
            <a:avLst/>
          </a:prstGeom>
          <a:solidFill>
            <a:srgbClr val="2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57800" cy="2103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485546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TASK 1: MEASURE DISTANCE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48840"/>
            <a:ext cx="4800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Consolas"/>
              </a:defRPr>
            </a:pPr>
            <a:r>
              <a:t>RUNS 10 TIMES A SECOND (EVERY 100MS)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Fires a 10-microsecond sound pulse every 100ms.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The chip's internal timer catches the echo return on its own.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The main processor never wastes time waiting for sound to bounce 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45920"/>
            <a:ext cx="5257800" cy="2103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810512"/>
            <a:ext cx="485546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TASK 2: READ TEMPERATURE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4800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NON-BLOCKING 750MS CYCLE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The temperature sensor takes 0.75 seconds to convert heat into a number.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Our code tells it to start converting, then immediately walks away to do other work!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It checks the clock and picks up the answer 750ms later—zero time wasted.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5257800" cy="2103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096512"/>
            <a:ext cx="485546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TASK 3: CHECK FOR DANGER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34840"/>
            <a:ext cx="4800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RUNS EVERY 10 MICROSECONDS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Instantly checks if gas is leaking or temperature crossed 45°C.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Switches the Green, Yellow, or Red LED lights right away.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Controls the buzzer: silent in Safe, slow beeps in Hazard, rapid siren in Emergency.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31920"/>
            <a:ext cx="5257800" cy="2103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4096512"/>
            <a:ext cx="485546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TASK 4: UPDATE SCREEN &amp; PC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434840"/>
            <a:ext cx="4800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BATCHED 4 TIMES A SECOND (EVERY 250MS)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Draws clean numbers onto the OLED mini-screen.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Sends formatted text line to laptop: [DIST:x|TEMP:x|GAS:x|MODE:x].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Batching keeps the screen smooth without hogging the processor.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6172200"/>
            <a:ext cx="10728655" cy="41148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621792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Segoe UI"/>
              </a:defRPr>
            </a:pPr>
            <a:r>
              <a:t>THE CHEF ANALOGY: Like a chef cooking 4 dishes at once, the code checks timers and never stands still.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3840480" cy="3200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C4B5FD"/>
                </a:solidFill>
                <a:latin typeface="Consolas"/>
              </a:defRPr>
            </a:pPr>
            <a:r>
              <a:t>PROJECT WALKTHROUGH // CLEVER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365760"/>
            <a:ext cx="1828800" cy="3200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4D399"/>
                </a:solidFill>
                <a:latin typeface="Consolas"/>
              </a:defRPr>
            </a:pPr>
            <a:r>
              <a:t>SLIDE 07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3 Smart Coding Tricks We Implemented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89888"/>
            <a:ext cx="10728655" cy="18288"/>
          </a:xfrm>
          <a:prstGeom prst="rect">
            <a:avLst/>
          </a:prstGeom>
          <a:solidFill>
            <a:srgbClr val="2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TRICK 1: HARDWARE TIMER ECHO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28712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Consolas"/>
              </a:defRPr>
            </a:pPr>
            <a:r>
              <a:t>ZERO CPU WAIT TIME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The Problem: Standard code uses busy-wait loops while waiting for sound echoes, freezing the chip for up to 30ms.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Our Solution: Configured the STM32 timer hardware to catch the echo rising and falling edges automatically.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Result: 0% CPU load during sound transit. The chip is free to do other safety checks.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645920"/>
            <a:ext cx="3328416" cy="4572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81051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TRICK 2: MICROSECOND TIMING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240280"/>
            <a:ext cx="28712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USING THE INTERNAL CYCLE COUNTER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The Problem: The temperature sensor needs exact microsecond pulses, but normal code only counts milliseconds.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Our Solution: We turned on the ARM chip's internal DWT counter, which ticks every 10 nanoseconds.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Result: Nanosecond-precise communication without needing extra timer chips.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645920"/>
            <a:ext cx="3328416" cy="4572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81051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TRICK 3: BATCHED 4 Hz UPDATES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2240280"/>
            <a:ext cx="2871216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KEEPING DISPLAYS SMOOTH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The Problem: Sending screen pixels too frequently slows down communication and causes visible flickering.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Our Solution: Grouped screen drawing and laptop messages together at steady 250ms intervals.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Result: Silky-smooth display updates with plenty of room left on the data bus.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3840480" cy="3200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C4B5FD"/>
                </a:solidFill>
                <a:latin typeface="Consolas"/>
              </a:defRPr>
            </a:pPr>
            <a:r>
              <a:t>PROJECT WALKTHROUGH // THE DECISION BRAIN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365760"/>
            <a:ext cx="1828800" cy="3200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4D399"/>
                </a:solidFill>
                <a:latin typeface="Consolas"/>
              </a:defRPr>
            </a:pPr>
            <a:r>
              <a:t>SLIDE 08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How the System Thinks (3 Simple Rules)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89888"/>
            <a:ext cx="10728655" cy="18288"/>
          </a:xfrm>
          <a:prstGeom prst="rect">
            <a:avLst/>
          </a:prstGeom>
          <a:solidFill>
            <a:srgbClr val="2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462686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THE DECISION CODE EXPLAINED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94560"/>
            <a:ext cx="4572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06B6D4"/>
                </a:solidFill>
                <a:latin typeface="Consolas"/>
              </a:defRPr>
            </a:pPr>
            <a:r>
              <a:t>// 1. Check Sensor Triggers</a:t>
            </a:r>
          </a:p>
          <a:p>
            <a:pPr>
              <a:spcBef>
                <a:spcPts val="300"/>
              </a:spcBef>
              <a:defRPr sz="1050">
                <a:solidFill>
                  <a:srgbClr val="FFFFFF"/>
                </a:solidFill>
                <a:latin typeface="Consolas"/>
              </a:defRPr>
            </a:pPr>
            <a:r>
              <a:t>gas_alert  = (Gas Sensor detects fumes);</a:t>
            </a:r>
            <a:br/>
            <a:r>
              <a:t>temp_alert = (Temperature &gt;= 45.0 °C);</a:t>
            </a:r>
          </a:p>
          <a:p>
            <a:pPr>
              <a:spcBef>
                <a:spcPts val="1000"/>
              </a:spcBef>
              <a:defRPr sz="1000">
                <a:solidFill>
                  <a:srgbClr val="06B6D4"/>
                </a:solidFill>
                <a:latin typeface="Consolas"/>
              </a:defRPr>
            </a:pPr>
            <a:r>
              <a:t>// 2. Apply the 3 Simple Rules</a:t>
            </a:r>
          </a:p>
          <a:p>
            <a:pPr>
              <a:spcBef>
                <a:spcPts val="300"/>
              </a:spcBef>
              <a:defRPr sz="1050">
                <a:solidFill>
                  <a:srgbClr val="FFFFFF"/>
                </a:solidFill>
                <a:latin typeface="Consolas"/>
              </a:defRPr>
            </a:pPr>
            <a:r>
              <a:t>if (gas_alert AND temp_alert) {</a:t>
            </a:r>
            <a:br/>
            <a:r>
              <a:t>    CurrentMode = EMERGENCY; // Red Light + Fast Siren</a:t>
            </a:r>
            <a:br/>
            <a:r>
              <a:t>}</a:t>
            </a:r>
            <a:br/>
            <a:r>
              <a:t>else if (gas_alert OR temp_alert) {</a:t>
            </a:r>
            <a:br/>
            <a:r>
              <a:t>    CurrentMode = HAZARD;    // Yellow Light + Beep</a:t>
            </a:r>
            <a:br/>
            <a:r>
              <a:t>}</a:t>
            </a:r>
            <a:br/>
            <a:r>
              <a:t>else {</a:t>
            </a:r>
            <a:br/>
            <a:r>
              <a:t>    CurrentMode = SAFE;      // Green Light + Silent</a:t>
            </a:r>
            <a:br/>
            <a:r>
              <a:t>}</a:t>
            </a:r>
          </a:p>
          <a:p>
            <a:pPr>
              <a:spcBef>
                <a:spcPts val="10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• Runs every 10 microseconds (instant reaction).</a:t>
            </a:r>
            <a:br/>
            <a:r>
              <a:t>• One clear truth controls the lights, buzzer, and screen.</a:t>
            </a:r>
            <a:br/>
            <a:r>
              <a:t>• No guessing or confusing middle states.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645920"/>
            <a:ext cx="5425135" cy="132588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1810512"/>
            <a:ext cx="502279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MODE: SAFE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084832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GREEN LIGHT ON  |  BUZZER SILENT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Normal cruising. Temperature is below 45°C and air is clean. All clear!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154680"/>
            <a:ext cx="5425135" cy="132588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3319272"/>
            <a:ext cx="502279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MODE: HAZARD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593592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YELLOW LIGHT ON  |  SLOW WARNING BEEP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Warning! Either temperature is high OR gas is detected. Crew must investigate.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4663440"/>
            <a:ext cx="5425135" cy="132588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4828032"/>
            <a:ext cx="502279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MODE: EMERGENCY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5102352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Consolas"/>
              </a:defRPr>
            </a:pPr>
            <a:r>
              <a:t>RED LIGHT ON  |  RAPID SIREN ALARM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Urgent! BOTH high heat AND gas detected together. Immediate fire hazard!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3840480" cy="3200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C4B5FD"/>
                </a:solidFill>
                <a:latin typeface="Consolas"/>
              </a:defRPr>
            </a:pPr>
            <a:r>
              <a:t>PROJECT WALKTHROUGH // PC SOFTWARE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365760"/>
            <a:ext cx="1828800" cy="3200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4D399"/>
                </a:solidFill>
                <a:latin typeface="Consolas"/>
              </a:defRPr>
            </a:pPr>
            <a:r>
              <a:t>SLIDE 09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Live PC Dashboard &amp; Excel Recorder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89888"/>
            <a:ext cx="10728655" cy="18288"/>
          </a:xfrm>
          <a:prstGeom prst="rect">
            <a:avLst/>
          </a:prstGeom>
          <a:solidFill>
            <a:srgbClr val="2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47183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REAL-TIME ROLLING GRAPHS</a:t>
            </a:r>
          </a:p>
        </p:txBody>
      </p:sp>
      <p:pic>
        <p:nvPicPr>
          <p:cNvPr id="10" name="Picture 9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94560"/>
            <a:ext cx="4663440" cy="3794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26480" y="1645920"/>
            <a:ext cx="5333695" cy="4572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810512"/>
            <a:ext cx="493135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HOW IT TALKS TO THE LAPTOP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4785055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onsolas"/>
              </a:defRPr>
            </a:pPr>
            <a:r>
              <a:t>SIMPLE READABLE MESSAGE FORMAT</a:t>
            </a:r>
          </a:p>
          <a:p>
            <a:pPr>
              <a:spcBef>
                <a:spcPts val="300"/>
              </a:spcBef>
              <a:defRPr sz="1200" b="1">
                <a:solidFill>
                  <a:srgbClr val="34D399"/>
                </a:solidFill>
                <a:latin typeface="Consolas"/>
              </a:defRPr>
            </a:pPr>
            <a:r>
              <a:t>[DIST:23 | TEMP:31.4 | GAS:OK | MODE:SAFE]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• Sent 4 times a second over a standard USB serial cable.</a:t>
            </a:r>
            <a:br/>
            <a:r>
              <a:t>• Clean and readable by humans and software alike.</a:t>
            </a:r>
          </a:p>
          <a:p>
            <a:pPr>
              <a:spcBef>
                <a:spcPts val="1000"/>
              </a:spcBef>
              <a:defRPr sz="1100" b="1">
                <a:solidFill>
                  <a:srgbClr val="06B6D4"/>
                </a:solidFill>
                <a:latin typeface="Consolas"/>
              </a:defRPr>
            </a:pPr>
            <a:r>
              <a:t>OUR PYTHON APPLICATION FEATURES</a:t>
            </a:r>
          </a:p>
          <a:p>
            <a:pPr>
              <a:spcBef>
                <a:spcPts val="300"/>
              </a:spcBef>
              <a:defRPr sz="900">
                <a:solidFill>
                  <a:srgbClr val="CBD5E1"/>
                </a:solidFill>
                <a:latin typeface="Segoe UI"/>
              </a:defRPr>
            </a:pPr>
            <a:r>
              <a:t>▹ Background Listener: Constantly grabs data from the cable so no numbers get lost.</a:t>
            </a:r>
          </a:p>
          <a:p>
            <a:pPr>
              <a:spcBef>
                <a:spcPts val="300"/>
              </a:spcBef>
              <a:defRPr sz="900">
                <a:solidFill>
                  <a:srgbClr val="CBD5E1"/>
                </a:solidFill>
                <a:latin typeface="Segoe UI"/>
              </a:defRPr>
            </a:pPr>
            <a:r>
              <a:t>▹ One-Key Excel Logging: Type 'LOG' in the console to save every reading into a timestamped CSV file.</a:t>
            </a:r>
          </a:p>
          <a:p>
            <a:pPr>
              <a:spcBef>
                <a:spcPts val="300"/>
              </a:spcBef>
              <a:defRPr sz="900">
                <a:solidFill>
                  <a:srgbClr val="CBD5E1"/>
                </a:solidFill>
                <a:latin typeface="Segoe UI"/>
              </a:defRPr>
            </a:pPr>
            <a:r>
              <a:t>▹ Color-Shifting Graphs: The title bar turns Green, Yellow, or Red to match the engine room status.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3840480" cy="3200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C4B5FD"/>
                </a:solidFill>
                <a:latin typeface="Consolas"/>
              </a:defRPr>
            </a:pPr>
            <a:r>
              <a:t>PROJECT WALKTHROUGH // LIVE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365760"/>
            <a:ext cx="1828800" cy="3200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4D399"/>
                </a:solidFill>
                <a:latin typeface="Consolas"/>
              </a:defRPr>
            </a:pPr>
            <a:r>
              <a:t>SLIDE 10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Testing With Real Heat &amp; Gas (The Proof)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89888"/>
            <a:ext cx="10728655" cy="18288"/>
          </a:xfrm>
          <a:prstGeom prst="rect">
            <a:avLst/>
          </a:prstGeom>
          <a:solidFill>
            <a:srgbClr val="2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28416" cy="39319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PHASE 1: SAFE STATE</a:t>
            </a:r>
          </a:p>
        </p:txBody>
      </p:sp>
      <p:pic>
        <p:nvPicPr>
          <p:cNvPr id="10" name="Picture 9" descr="frame_5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40280"/>
            <a:ext cx="2962656" cy="2011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4389120"/>
            <a:ext cx="296265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Clean air, normal 29.2°C temperature. Green light on, OLED showing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645920"/>
            <a:ext cx="3328416" cy="39319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181051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PHASE 2: GAS ALERT</a:t>
            </a:r>
          </a:p>
        </p:txBody>
      </p:sp>
      <p:pic>
        <p:nvPicPr>
          <p:cNvPr id="14" name="Picture 13" descr="frame_25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2240280"/>
            <a:ext cx="2962656" cy="2011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08576" y="4389120"/>
            <a:ext cx="296265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Gas fumes sprayed. Instantly flips to Yellow; buzzer begins 500ms warning beeps.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645920"/>
            <a:ext cx="3328416" cy="39319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81051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PHASE 3: EMERGENCY!</a:t>
            </a:r>
          </a:p>
        </p:txBody>
      </p:sp>
      <p:pic>
        <p:nvPicPr>
          <p:cNvPr id="18" name="Picture 17" descr="frame_45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2240280"/>
            <a:ext cx="2962656" cy="20116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02752" y="4389120"/>
            <a:ext cx="296265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Heat crosses 45°C while gas is present. Flips to Red with rapid 100ms siren alarm!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760720"/>
            <a:ext cx="10728655" cy="82296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80644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Consolas"/>
              </a:defRPr>
            </a:pPr>
            <a:r>
              <a:t>MEASURED TEST PERFORMANCE</a:t>
            </a:r>
          </a:p>
          <a:p>
            <a:pPr>
              <a:spcBef>
                <a:spcPts val="200"/>
              </a:spcBef>
              <a:defRPr sz="1000">
                <a:solidFill>
                  <a:srgbClr val="FFFFFF"/>
                </a:solidFill>
                <a:latin typeface="Segoe UI"/>
              </a:defRPr>
            </a:pPr>
            <a:r>
              <a:t>Reaction Speed: &lt; 15 milliseconds (faster than a blink)  |  Dropped Packets: 0.00% across hours of continuous logging  |  Memory Used: Under 5% of chip capacity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3840480" cy="3200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C4B5FD"/>
                </a:solidFill>
                <a:latin typeface="Consolas"/>
              </a:defRPr>
            </a:pPr>
            <a:r>
              <a:t>PROJECT WALKTHROUGH // PROBLEM SOLVING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365760"/>
            <a:ext cx="1828800" cy="3200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4D399"/>
                </a:solidFill>
                <a:latin typeface="Consolas"/>
              </a:defRPr>
            </a:pPr>
            <a:r>
              <a:t>SLIDE 11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Toughest Roadblocks We Solved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89888"/>
            <a:ext cx="10728655" cy="18288"/>
          </a:xfrm>
          <a:prstGeom prst="rect">
            <a:avLst/>
          </a:prstGeom>
          <a:solidFill>
            <a:srgbClr val="2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57800" cy="2103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485546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ROADBLOCK 1: 0.75s SENSOR LAG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48840"/>
            <a:ext cx="4800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Consolas"/>
              </a:defRPr>
            </a:pPr>
            <a:r>
              <a:t>THE FREEZING PROBLEM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The Problem: The temperature sensor takes 750ms to read. Traditional delay commands froze the chip and missed gas alarms.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How We Fixed It: Split the read into two states: ask for data now, and pick it up 750ms later while keeping all other sensors running.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45920"/>
            <a:ext cx="5257800" cy="2103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810512"/>
            <a:ext cx="485546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ROADBLOCK 2: JUMPY DISTANCE READINGS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4800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ELIMINATING SOFTWARE JITTER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The Problem: Using software loops to time distance sound waves caused wild jumps because other tasks interrupted the timing.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How We Fixed It: Let the chip's internal silicon timer (TIM2) capture sound edges automatically in hardware. Rock-solid accuracy.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5257800" cy="2103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096512"/>
            <a:ext cx="485546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ROADBLOCK 3: COUNTING MICROSECONDS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34840"/>
            <a:ext cx="4800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HARDWARE TIMING PRECISION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The Problem: Standard microcontroller libraries only count in whole milliseconds, but 1-Wire sensors need 5-microsecond pulses.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How We Fixed It: Enabled the ARM chip's internal DWT cycle counter, which ticks every 10 nanoseconds for pinpoint accuracy.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31920"/>
            <a:ext cx="5257800" cy="2103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4096512"/>
            <a:ext cx="485546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ROADBLOCK 4: PC GRAPH STUTTERING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434840"/>
            <a:ext cx="4800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SMOOTH PYTHON MULTITHREADING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The Problem: Waiting for serial messages made the Matplotlib graph lag and freeze up on the laptop.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How We Fixed It: Decoupled reading and plotting into separate background threads, creating a buttery-smooth display.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3840480" cy="3200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C4B5FD"/>
                </a:solidFill>
                <a:latin typeface="Consolas"/>
              </a:defRPr>
            </a:pPr>
            <a:r>
              <a:t>PROJECT WALKTHROUGH // PERSONAL GROWTH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365760"/>
            <a:ext cx="1828800" cy="3200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4D399"/>
                </a:solidFill>
                <a:latin typeface="Consolas"/>
              </a:defRPr>
            </a:pPr>
            <a:r>
              <a:t>SLIDE 12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What I Personally Learnt From This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89888"/>
            <a:ext cx="10728655" cy="18288"/>
          </a:xfrm>
          <a:prstGeom prst="rect">
            <a:avLst/>
          </a:prstGeom>
          <a:solidFill>
            <a:srgbClr val="2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29000" cy="2103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302666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01 / REAL EMBEDDED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2971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Bare-Metal Programming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Configuring internal registers, clock frequencies (96 MHz), and hardware peripherals directly in 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645920"/>
            <a:ext cx="3429000" cy="2103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810512"/>
            <a:ext cx="302666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02 / MULTITASKING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2240280"/>
            <a:ext cx="2971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Non-Blocking Logic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How to architect systems where 4 different jobs run smoothly without any task starving or freezing the chip.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645920"/>
            <a:ext cx="3429000" cy="2103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1810512"/>
            <a:ext cx="302666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03 / HARDWARE PROTOCOLS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240280"/>
            <a:ext cx="2971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Sensors &amp; Wiring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Mastered 1-Wire digital communication, fast 400 kHz I2C buses, and reliable UART serial links.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3429000" cy="2103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096512"/>
            <a:ext cx="302666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04 / HARDWARE TIMERS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526280"/>
            <a:ext cx="2971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Input Capture ISRs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Using hardware timer interrupts to count microsecond sound waves without wasting CPU cycles.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2544" y="3931920"/>
            <a:ext cx="3429000" cy="2103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4096512"/>
            <a:ext cx="302666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05 / PC DATA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4526280"/>
            <a:ext cx="2971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Python Multithreading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Writing multi-threaded Python applications to visualize sensor data live and export clean Excel/CSV logs.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3931920"/>
            <a:ext cx="3429000" cy="210312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74736" y="4096512"/>
            <a:ext cx="302666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06 / PRACTICAL DEBUGGING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4526280"/>
            <a:ext cx="2971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Real Hardware Wisdom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Tracking down loose ground wires, voltage drops, and timing bugs on real physical breadboards.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3840480" cy="3200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C4B5FD"/>
                </a:solidFill>
                <a:latin typeface="Consolas"/>
              </a:defRPr>
            </a:pPr>
            <a:r>
              <a:t>PROJECT WALKTHROUGH //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365760"/>
            <a:ext cx="1828800" cy="3200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4D399"/>
                </a:solidFill>
                <a:latin typeface="Consolas"/>
              </a:defRPr>
            </a:pPr>
            <a:r>
              <a:t>SLIDE 13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How We Can Make This a Commercial Product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89888"/>
            <a:ext cx="10728655" cy="18288"/>
          </a:xfrm>
          <a:prstGeom prst="rect">
            <a:avLst/>
          </a:prstGeom>
          <a:solidFill>
            <a:srgbClr val="2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542032" cy="4572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213969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2176272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Industrial CAN Bus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Replace USB serial cables with heavy-duty marine CAN bus so multiple sensor pods connect across the whole ship.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Noise-immune differential signals designed for high-voltage marine engine bays.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645920"/>
            <a:ext cx="2542032" cy="4572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810512"/>
            <a:ext cx="213969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240280"/>
            <a:ext cx="2176272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Satellite Cloud Links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Beam live telemetry over satellite so shore-side fleet headquarters can check engine health anywhere on earth.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Fleet-wide monitoring dashboards with automatic maintenance reminders.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645920"/>
            <a:ext cx="2542032" cy="4572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810512"/>
            <a:ext cx="213969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240280"/>
            <a:ext cx="2176272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Predictive AI (TinyML)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Train miniature neural networks on vibration sensors to catch failing bearings weeks before they overheat.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Move from reactive alarms to proactive predictive maintenance.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1645920"/>
            <a:ext cx="2542032" cy="4572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07424" y="1810512"/>
            <a:ext cx="213969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PHASE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2240280"/>
            <a:ext cx="2176272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Marine Metal Casing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Design a custom PCB inside an IP67 waterproof, flame-retardant aluminum housing built for diesel environments.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▹ Certified for explosive marine atmospheres (ATEX / IECEx).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3840480" cy="3200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C4B5FD"/>
                </a:solidFill>
                <a:latin typeface="Consolas"/>
              </a:defRPr>
            </a:pPr>
            <a:r>
              <a:t>PROJECT WALKTHROUGH // WRAP-UP &amp;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365760"/>
            <a:ext cx="1828800" cy="3200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4D399"/>
                </a:solidFill>
                <a:latin typeface="Consolas"/>
              </a:defRPr>
            </a:pPr>
            <a:r>
              <a:t>SLIDE 14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Project Summary &amp; Evaluation Q&amp;A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89888"/>
            <a:ext cx="10728655" cy="18288"/>
          </a:xfrm>
          <a:prstGeom prst="rect">
            <a:avLst/>
          </a:prstGeom>
          <a:solidFill>
            <a:srgbClr val="23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6400800" cy="4572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599846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FINAL RECAP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58521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34D399"/>
                </a:solidFill>
                <a:latin typeface="Segoe UI"/>
              </a:defRPr>
            </a:pPr>
            <a:r>
              <a:t>✓ Solved a Real Problem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Continuous, automated 24/7 vitals monitoring for harsh ship engine rooms.</a:t>
            </a:r>
          </a:p>
          <a:p>
            <a:pPr>
              <a:spcBef>
                <a:spcPts val="800"/>
              </a:spcBef>
              <a:defRPr sz="1200" b="1">
                <a:solidFill>
                  <a:srgbClr val="34D399"/>
                </a:solidFill>
                <a:latin typeface="Segoe UI"/>
              </a:defRPr>
            </a:pPr>
            <a:r>
              <a:t>✓ Zero Freezing or Lag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Engineered a non-blocking cooperative superloop running all sensors seamlessly.</a:t>
            </a:r>
          </a:p>
          <a:p>
            <a:pPr>
              <a:spcBef>
                <a:spcPts val="800"/>
              </a:spcBef>
              <a:defRPr sz="1200" b="1">
                <a:solidFill>
                  <a:srgbClr val="34D399"/>
                </a:solidFill>
                <a:latin typeface="Segoe UI"/>
              </a:defRPr>
            </a:pPr>
            <a:r>
              <a:t>✓ Bench-Tested &amp; Proven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Validated with live gas fumes and heat triggers with &lt;15ms instant response.</a:t>
            </a:r>
          </a:p>
          <a:p>
            <a:pPr>
              <a:spcBef>
                <a:spcPts val="800"/>
              </a:spcBef>
              <a:defRPr sz="1200" b="1">
                <a:solidFill>
                  <a:srgbClr val="34D399"/>
                </a:solidFill>
                <a:latin typeface="Segoe UI"/>
              </a:defRPr>
            </a:pPr>
            <a:r>
              <a:t>✓ Complete System Suite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Built low-level C firmware, hardware wiring, and multithreaded Python telemetry.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645920"/>
            <a:ext cx="4053535" cy="457200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1810512"/>
            <a:ext cx="365119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4D399"/>
                </a:solidFill>
                <a:latin typeface="Consolas"/>
              </a:defRPr>
            </a:pPr>
            <a:r>
              <a:t>PROJECT REPOSITORY &amp;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286000"/>
            <a:ext cx="3596335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onsolas"/>
              </a:defRPr>
            </a:pPr>
            <a:r>
              <a:t>GITHUB REPOSITORY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  <a:latin typeface="Consolas"/>
              </a:defRPr>
            </a:pPr>
            <a:r>
              <a:t>https://github.com/UjjvxL/</a:t>
            </a:r>
            <a:br/>
            <a:r>
              <a:t>Ship-Engine-Room-Safety-Monitor-</a:t>
            </a:r>
          </a:p>
          <a:p>
            <a:pPr>
              <a:spcBef>
                <a:spcPts val="1000"/>
              </a:spcBef>
              <a:defRPr sz="1000" b="1">
                <a:solidFill>
                  <a:srgbClr val="06B6D4"/>
                </a:solidFill>
                <a:latin typeface="Consolas"/>
              </a:defRPr>
            </a:pPr>
            <a:r>
              <a:t>RECORDED DEMO VIDEOS</a:t>
            </a:r>
          </a:p>
          <a:p>
            <a:pPr>
              <a:spcBef>
                <a:spcPts val="200"/>
              </a:spcBef>
              <a:defRPr sz="900">
                <a:solidFill>
                  <a:srgbClr val="CBD5E1"/>
                </a:solidFill>
                <a:latin typeface="Segoe UI"/>
              </a:defRPr>
            </a:pPr>
            <a:r>
              <a:t>1. Final Vid 1.mp4 (Bench Test &amp; Sensor Verification)</a:t>
            </a:r>
            <a:br/>
            <a:r>
              <a:t>2. Final vid 2.mp4 (Full System &amp; Alert Run)</a:t>
            </a:r>
          </a:p>
          <a:p>
            <a:pPr>
              <a:spcBef>
                <a:spcPts val="1800"/>
              </a:spcBef>
              <a:defRPr sz="2400" b="1">
                <a:solidFill>
                  <a:srgbClr val="34D399"/>
                </a:solidFill>
                <a:latin typeface="Segoe UI"/>
              </a:defRPr>
            </a:pPr>
            <a:r>
              <a:t>THANK YOU!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Open for Questions &amp; Evaluation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